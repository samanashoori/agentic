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74B5A52-1ED3-46A7-8594-2F58E58D070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3309484-6B42-46DD-A29A-EACF179F9CA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DF339E8-B3A9-4BC8-BCA8-BE52E9B8924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DA0A5A9-9544-41C2-A62B-E880258642A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0686D72-351A-4CED-B867-ED4B0A11240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B4FB3B7-4841-487F-B211-7646A8FFA22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261F5F2-3CE3-4E17-9C82-9EF3CE3D3AB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E79898E-781A-439F-BEBA-4C76EDF1CA3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CC7056A-B8FE-44EC-A97D-409CC6F0A00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4DE322C-0A08-49D2-B42E-D4C6F2054C8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CA50544-C665-4AB2-8ACA-DB3E4C98592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/>
          <p:cNvSpPr/>
          <p:nvPr/>
        </p:nvSpPr>
        <p:spPr>
          <a:xfrm>
            <a:off x="457200" y="1645920"/>
            <a:ext cx="822924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Credit Card Fraud Detection</a:t>
            </a:r>
            <a:endParaRPr lang="en-US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457200" y="2560320"/>
            <a:ext cx="822924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" b="0" u="none" strike="noStrike">
                <a:solidFill>
                  <a:srgbClr val="cadcfc"/>
                </a:solidFill>
                <a:effectLst/>
                <a:uFillTx/>
                <a:latin typeface="Arial"/>
                <a:ea typeface="Arial"/>
              </a:rPr>
              <a:t>End-to-End ML Pipeline Report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0"/>
          <p:cNvSpPr/>
          <p:nvPr/>
        </p:nvSpPr>
        <p:spPr>
          <a:xfrm>
            <a:off x="457200" y="274320"/>
            <a:ext cx="822924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THE PROBLEM: DATA IMBALANCE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1"/>
          <p:cNvSpPr/>
          <p:nvPr/>
        </p:nvSpPr>
        <p:spPr>
          <a:xfrm>
            <a:off x="457200" y="1097280"/>
            <a:ext cx="274284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2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1.29M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2"/>
          <p:cNvSpPr/>
          <p:nvPr/>
        </p:nvSpPr>
        <p:spPr>
          <a:xfrm>
            <a:off x="457200" y="1920240"/>
            <a:ext cx="274284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Transactions Scanned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3"/>
          <p:cNvSpPr/>
          <p:nvPr/>
        </p:nvSpPr>
        <p:spPr>
          <a:xfrm>
            <a:off x="3200400" y="1097280"/>
            <a:ext cx="274284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200" b="1" u="none" strike="noStrike">
                <a:solidFill>
                  <a:srgbClr val="cc0000"/>
                </a:solidFill>
                <a:effectLst/>
                <a:uFillTx/>
                <a:latin typeface="Calibri"/>
              </a:rPr>
              <a:t>0.58%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4"/>
          <p:cNvSpPr/>
          <p:nvPr/>
        </p:nvSpPr>
        <p:spPr>
          <a:xfrm>
            <a:off x="3200400" y="1920240"/>
            <a:ext cx="274284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Fraud Rate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5"/>
          <p:cNvSpPr/>
          <p:nvPr/>
        </p:nvSpPr>
        <p:spPr>
          <a:xfrm>
            <a:off x="6172200" y="1097280"/>
            <a:ext cx="2514240" cy="4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080" bIns="108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200" b="1" u="none" strike="noStrike">
                <a:solidFill>
                  <a:srgbClr val="2e7d32"/>
                </a:solidFill>
                <a:effectLst/>
                <a:uFillTx/>
                <a:latin typeface="Calibri"/>
              </a:rPr>
              <a:t>99.</a:t>
            </a:r>
            <a:r>
              <a:rPr lang="en-US" sz="3200" b="1" u="none" strike="noStrike">
                <a:solidFill>
                  <a:srgbClr val="2e7d32"/>
                </a:solidFill>
                <a:effectLst/>
                <a:uFillTx/>
                <a:latin typeface="Calibri"/>
              </a:rPr>
              <a:t>42%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6"/>
          <p:cNvSpPr/>
          <p:nvPr/>
        </p:nvSpPr>
        <p:spPr>
          <a:xfrm>
            <a:off x="5943600" y="1920240"/>
            <a:ext cx="274284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Legitimate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7"/>
          <p:cNvSpPr/>
          <p:nvPr/>
        </p:nvSpPr>
        <p:spPr>
          <a:xfrm>
            <a:off x="457200" y="3428640"/>
            <a:ext cx="822924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Challenges of Extreme Imbalance: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333333"/>
              </a:buClr>
              <a:buFont typeface="Symbol" charset="2"/>
              <a:buChar char=""/>
              <a:tabLst>
                <a:tab algn="l" pos="0"/>
              </a:tabLs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Standard accuracy is misleading (a dummy model guessing 'Legitimate' would achieve 99.4%).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333333"/>
              </a:buClr>
              <a:buFont typeface="Symbol" charset="2"/>
              <a:buChar char=""/>
              <a:tabLst>
                <a:tab algn="l" pos="0"/>
              </a:tabLs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Models naturally bias toward the majority class, requiring class-weight adjustments.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333333"/>
              </a:buClr>
              <a:buFont typeface="Symbol" charset="2"/>
              <a:buChar char=""/>
              <a:tabLst>
                <a:tab algn="l" pos="0"/>
              </a:tabLs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Minority class (Fraud) patterns are significantly harder for algorithms to capture.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/>
          <p:nvPr/>
        </p:nvSpPr>
        <p:spPr>
          <a:xfrm>
            <a:off x="457200" y="274320"/>
            <a:ext cx="822924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END-TO-END PIPELINE OVERVIEW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1"/>
          <p:cNvSpPr/>
          <p:nvPr/>
        </p:nvSpPr>
        <p:spPr>
          <a:xfrm>
            <a:off x="457200" y="1371600"/>
            <a:ext cx="1554120" cy="73116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2"/>
          <p:cNvSpPr/>
          <p:nvPr/>
        </p:nvSpPr>
        <p:spPr>
          <a:xfrm>
            <a:off x="457200" y="1371600"/>
            <a:ext cx="1554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ETL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3"/>
          <p:cNvSpPr/>
          <p:nvPr/>
        </p:nvSpPr>
        <p:spPr>
          <a:xfrm>
            <a:off x="457200" y="2514240"/>
            <a:ext cx="155412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Cleaning and Feature Engineering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4"/>
          <p:cNvSpPr/>
          <p:nvPr/>
        </p:nvSpPr>
        <p:spPr>
          <a:xfrm>
            <a:off x="2194560" y="1371600"/>
            <a:ext cx="1554120" cy="73116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5"/>
          <p:cNvSpPr/>
          <p:nvPr/>
        </p:nvSpPr>
        <p:spPr>
          <a:xfrm>
            <a:off x="2194560" y="1371600"/>
            <a:ext cx="1554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STATISTICAL TESTING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6"/>
          <p:cNvSpPr/>
          <p:nvPr/>
        </p:nvSpPr>
        <p:spPr>
          <a:xfrm>
            <a:off x="2103480" y="2514240"/>
            <a:ext cx="155412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Multicollinearity (VIF) &amp; p-value Analysis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7"/>
          <p:cNvSpPr/>
          <p:nvPr/>
        </p:nvSpPr>
        <p:spPr>
          <a:xfrm>
            <a:off x="3931920" y="1371600"/>
            <a:ext cx="1554120" cy="73116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8"/>
          <p:cNvSpPr/>
          <p:nvPr/>
        </p:nvSpPr>
        <p:spPr>
          <a:xfrm>
            <a:off x="3931920" y="1371600"/>
            <a:ext cx="1554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MODEL TRAINING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9"/>
          <p:cNvSpPr/>
          <p:nvPr/>
        </p:nvSpPr>
        <p:spPr>
          <a:xfrm>
            <a:off x="3932280" y="2514240"/>
            <a:ext cx="155412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Random Forest with Class Weighting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10"/>
          <p:cNvSpPr/>
          <p:nvPr/>
        </p:nvSpPr>
        <p:spPr>
          <a:xfrm>
            <a:off x="5669280" y="1371600"/>
            <a:ext cx="1554120" cy="73116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1"/>
          <p:cNvSpPr/>
          <p:nvPr/>
        </p:nvSpPr>
        <p:spPr>
          <a:xfrm>
            <a:off x="5669280" y="1371600"/>
            <a:ext cx="1554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EVALUATION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2"/>
          <p:cNvSpPr/>
          <p:nvPr/>
        </p:nvSpPr>
        <p:spPr>
          <a:xfrm>
            <a:off x="5715000" y="2514240"/>
            <a:ext cx="155412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Recall vs. Precision Threshold Tuning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13"/>
          <p:cNvSpPr/>
          <p:nvPr/>
        </p:nvSpPr>
        <p:spPr>
          <a:xfrm>
            <a:off x="7406640" y="1371600"/>
            <a:ext cx="1554120" cy="73116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4"/>
          <p:cNvSpPr/>
          <p:nvPr/>
        </p:nvSpPr>
        <p:spPr>
          <a:xfrm>
            <a:off x="7406640" y="1371600"/>
            <a:ext cx="1554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REPORTING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5"/>
          <p:cNvSpPr/>
          <p:nvPr/>
        </p:nvSpPr>
        <p:spPr>
          <a:xfrm>
            <a:off x="7361280" y="2514600"/>
            <a:ext cx="155412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Executive Insights and Deployment Plan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0"/>
          <p:cNvSpPr/>
          <p:nvPr/>
        </p:nvSpPr>
        <p:spPr>
          <a:xfrm>
            <a:off x="457200" y="274320"/>
            <a:ext cx="822924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ETL &amp; FEATURE ENGINEERING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"/>
          <p:cNvSpPr/>
          <p:nvPr/>
        </p:nvSpPr>
        <p:spPr>
          <a:xfrm>
            <a:off x="457200" y="1097280"/>
            <a:ext cx="411444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Dropped Columns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2"/>
          <p:cNvSpPr/>
          <p:nvPr/>
        </p:nvSpPr>
        <p:spPr>
          <a:xfrm>
            <a:off x="457200" y="2286000"/>
            <a:ext cx="411444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333333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High Cardinality: cc_num, trans_num, street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333333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Leakage Prevention: unix_time, trans_date_trans_time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333333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Redundant: lat, long, city, zip, first, last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3"/>
          <p:cNvSpPr/>
          <p:nvPr/>
        </p:nvSpPr>
        <p:spPr>
          <a:xfrm>
            <a:off x="5029200" y="1097280"/>
            <a:ext cx="411444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Engineered Features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4"/>
          <p:cNvSpPr/>
          <p:nvPr/>
        </p:nvSpPr>
        <p:spPr>
          <a:xfrm>
            <a:off x="5029200" y="2285640"/>
            <a:ext cx="411444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333333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Distance: Calculated via Haversine (lat/long vs merchant)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333333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Age: Derived from Date of Birth (dob)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333333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Temporal: Hour, Day of Week, Month from timestamp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 0"/>
          <p:cNvSpPr/>
          <p:nvPr/>
        </p:nvSpPr>
        <p:spPr>
          <a:xfrm>
            <a:off x="457200" y="274320"/>
            <a:ext cx="822924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STATISTICAL TESTING &amp; SELECTION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"/>
          <p:cNvSpPr/>
          <p:nvPr/>
        </p:nvSpPr>
        <p:spPr>
          <a:xfrm>
            <a:off x="457200" y="1097280"/>
            <a:ext cx="274284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2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10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2"/>
          <p:cNvSpPr/>
          <p:nvPr/>
        </p:nvSpPr>
        <p:spPr>
          <a:xfrm>
            <a:off x="457200" y="2011680"/>
            <a:ext cx="274284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Optimized Features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3"/>
          <p:cNvSpPr/>
          <p:nvPr/>
        </p:nvSpPr>
        <p:spPr>
          <a:xfrm>
            <a:off x="3200400" y="1097280"/>
            <a:ext cx="274284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2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~1.0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4"/>
          <p:cNvSpPr/>
          <p:nvPr/>
        </p:nvSpPr>
        <p:spPr>
          <a:xfrm>
            <a:off x="3200400" y="2011680"/>
            <a:ext cx="274284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VIF (No Multicollinearity)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5"/>
          <p:cNvSpPr/>
          <p:nvPr/>
        </p:nvSpPr>
        <p:spPr>
          <a:xfrm>
            <a:off x="6400800" y="914400"/>
            <a:ext cx="228564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2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&lt; 0.05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6"/>
          <p:cNvSpPr/>
          <p:nvPr/>
        </p:nvSpPr>
        <p:spPr>
          <a:xfrm>
            <a:off x="5943600" y="2011680"/>
            <a:ext cx="274284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p-values (Significant)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7"/>
          <p:cNvSpPr/>
          <p:nvPr/>
        </p:nvSpPr>
        <p:spPr>
          <a:xfrm>
            <a:off x="457200" y="2926080"/>
            <a:ext cx="822924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Selected Features List: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8"/>
          <p:cNvSpPr/>
          <p:nvPr/>
        </p:nvSpPr>
        <p:spPr>
          <a:xfrm>
            <a:off x="457200" y="3383280"/>
            <a:ext cx="822924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0" u="none" strike="noStrike">
                <a:solidFill>
                  <a:srgbClr val="333333"/>
                </a:solidFill>
                <a:effectLst/>
                <a:uFillTx/>
                <a:latin typeface="Courier New"/>
                <a:ea typeface="Courier New"/>
              </a:rPr>
              <a:t>gender, day_of_week, category, month, hour, amt, state, age, distance, city_pop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 0"/>
          <p:cNvSpPr/>
          <p:nvPr/>
        </p:nvSpPr>
        <p:spPr>
          <a:xfrm>
            <a:off x="457200" y="274320"/>
            <a:ext cx="822924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MODEL TRAINING: RANDOM FOREST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"/>
          <p:cNvSpPr/>
          <p:nvPr/>
        </p:nvSpPr>
        <p:spPr>
          <a:xfrm>
            <a:off x="457200" y="1600200"/>
            <a:ext cx="457164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Architecture: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333333"/>
              </a:buClr>
              <a:buFont typeface="Symbol" charset="2"/>
              <a:buChar char=""/>
              <a:tabLst>
                <a:tab algn="l" pos="0"/>
              </a:tabLst>
            </a:pPr>
            <a:r>
              <a:rPr lang="en-US" sz="16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Random Forest Ensemble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333333"/>
              </a:buClr>
              <a:buFont typeface="Symbol" charset="2"/>
              <a:buChar char=""/>
              <a:tabLst>
                <a:tab algn="l" pos="0"/>
              </a:tabLst>
            </a:pPr>
            <a:r>
              <a:rPr lang="en-US" sz="16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80/20 Chronological Split (No random shuffling to prevent temporal leak)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333333"/>
              </a:buClr>
              <a:buFont typeface="Symbol" charset="2"/>
              <a:buChar char=""/>
              <a:tabLst>
                <a:tab algn="l" pos="0"/>
              </a:tabLst>
            </a:pPr>
            <a:r>
              <a:rPr lang="en-US" sz="16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Manual Class Weighting: Fraud (1) weight set to 86.37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2"/>
          <p:cNvSpPr/>
          <p:nvPr/>
        </p:nvSpPr>
        <p:spPr>
          <a:xfrm>
            <a:off x="5486400" y="1097280"/>
            <a:ext cx="274284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60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0.9959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3"/>
          <p:cNvSpPr/>
          <p:nvPr/>
        </p:nvSpPr>
        <p:spPr>
          <a:xfrm>
            <a:off x="5486400" y="1828800"/>
            <a:ext cx="274284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ROC-AUC (Holdout)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4"/>
          <p:cNvSpPr/>
          <p:nvPr/>
        </p:nvSpPr>
        <p:spPr>
          <a:xfrm>
            <a:off x="5486400" y="2560320"/>
            <a:ext cx="274284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60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0.9428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5"/>
          <p:cNvSpPr/>
          <p:nvPr/>
        </p:nvSpPr>
        <p:spPr>
          <a:xfrm>
            <a:off x="5486400" y="3291840"/>
            <a:ext cx="274284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Fraud Recall (Holdout)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 0"/>
          <p:cNvSpPr/>
          <p:nvPr/>
        </p:nvSpPr>
        <p:spPr>
          <a:xfrm>
            <a:off x="457200" y="274320"/>
            <a:ext cx="822924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VALIDATION VS. TEST GENERALIZATION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"/>
          <p:cNvSpPr/>
          <p:nvPr/>
        </p:nvSpPr>
        <p:spPr>
          <a:xfrm>
            <a:off x="457200" y="914400"/>
            <a:ext cx="822924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Performance remained stable on unseen fraudTest.csv data, indicating minimal overfitting and strong generalization capability.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58" name="Table 0"/>
          <p:cNvGraphicFramePr/>
          <p:nvPr/>
        </p:nvGraphicFramePr>
        <p:xfrm>
          <a:off x="457200" y="1828800"/>
          <a:ext cx="8229240" cy="146448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Metric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adcfc"/>
                      </a:solidFill>
                      <a:prstDash val="solid"/>
                    </a:lnL>
                    <a:lnR w="12240">
                      <a:solidFill>
                        <a:srgbClr val="cadcfc"/>
                      </a:solidFill>
                      <a:prstDash val="solid"/>
                    </a:lnR>
                    <a:lnT w="12240">
                      <a:solidFill>
                        <a:srgbClr val="cadcfc"/>
                      </a:solidFill>
                      <a:prstDash val="solid"/>
                    </a:lnT>
                    <a:lnB w="12240">
                      <a:solidFill>
                        <a:srgbClr val="cadcf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Validation (Holdout)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adcfc"/>
                      </a:solidFill>
                      <a:prstDash val="solid"/>
                    </a:lnL>
                    <a:lnR w="12240">
                      <a:solidFill>
                        <a:srgbClr val="cadcfc"/>
                      </a:solidFill>
                      <a:prstDash val="solid"/>
                    </a:lnR>
                    <a:lnT w="12240">
                      <a:solidFill>
                        <a:srgbClr val="cadcfc"/>
                      </a:solidFill>
                      <a:prstDash val="solid"/>
                    </a:lnT>
                    <a:lnB w="12240">
                      <a:solidFill>
                        <a:srgbClr val="cadcf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Test (Unseen)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adcfc"/>
                      </a:solidFill>
                      <a:prstDash val="solid"/>
                    </a:lnL>
                    <a:lnR w="12240">
                      <a:solidFill>
                        <a:srgbClr val="cadcfc"/>
                      </a:solidFill>
                      <a:prstDash val="solid"/>
                    </a:lnR>
                    <a:lnT w="12240">
                      <a:solidFill>
                        <a:srgbClr val="cadcfc"/>
                      </a:solidFill>
                      <a:prstDash val="solid"/>
                    </a:lnT>
                    <a:lnB w="12240">
                      <a:solidFill>
                        <a:srgbClr val="cadcf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ROC-AUC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adcfc"/>
                      </a:solidFill>
                      <a:prstDash val="solid"/>
                    </a:lnL>
                    <a:lnR w="12240">
                      <a:solidFill>
                        <a:srgbClr val="cadcfc"/>
                      </a:solidFill>
                      <a:prstDash val="solid"/>
                    </a:lnR>
                    <a:lnT w="12240">
                      <a:solidFill>
                        <a:srgbClr val="cadcfc"/>
                      </a:solidFill>
                      <a:prstDash val="solid"/>
                    </a:lnT>
                    <a:lnB w="12240">
                      <a:solidFill>
                        <a:srgbClr val="cadcf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0.9959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adcfc"/>
                      </a:solidFill>
                      <a:prstDash val="solid"/>
                    </a:lnL>
                    <a:lnR w="12240">
                      <a:solidFill>
                        <a:srgbClr val="cadcfc"/>
                      </a:solidFill>
                      <a:prstDash val="solid"/>
                    </a:lnR>
                    <a:lnT w="12240">
                      <a:solidFill>
                        <a:srgbClr val="cadcfc"/>
                      </a:solidFill>
                      <a:prstDash val="solid"/>
                    </a:lnT>
                    <a:lnB w="12240">
                      <a:solidFill>
                        <a:srgbClr val="cadcf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0.9931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adcfc"/>
                      </a:solidFill>
                      <a:prstDash val="solid"/>
                    </a:lnL>
                    <a:lnR w="12240">
                      <a:solidFill>
                        <a:srgbClr val="cadcfc"/>
                      </a:solidFill>
                      <a:prstDash val="solid"/>
                    </a:lnR>
                    <a:lnT w="12240">
                      <a:solidFill>
                        <a:srgbClr val="cadcfc"/>
                      </a:solidFill>
                      <a:prstDash val="solid"/>
                    </a:lnT>
                    <a:lnB w="12240">
                      <a:solidFill>
                        <a:srgbClr val="cadcfc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Recall (Fraud)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adcfc"/>
                      </a:solidFill>
                      <a:prstDash val="solid"/>
                    </a:lnL>
                    <a:lnR w="12240">
                      <a:solidFill>
                        <a:srgbClr val="cadcfc"/>
                      </a:solidFill>
                      <a:prstDash val="solid"/>
                    </a:lnR>
                    <a:lnT w="12240">
                      <a:solidFill>
                        <a:srgbClr val="cadcfc"/>
                      </a:solidFill>
                      <a:prstDash val="solid"/>
                    </a:lnT>
                    <a:lnB w="12240">
                      <a:solidFill>
                        <a:srgbClr val="cadcf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0.9428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adcfc"/>
                      </a:solidFill>
                      <a:prstDash val="solid"/>
                    </a:lnL>
                    <a:lnR w="12240">
                      <a:solidFill>
                        <a:srgbClr val="cadcfc"/>
                      </a:solidFill>
                      <a:prstDash val="solid"/>
                    </a:lnR>
                    <a:lnT w="12240">
                      <a:solidFill>
                        <a:srgbClr val="cadcfc"/>
                      </a:solidFill>
                      <a:prstDash val="solid"/>
                    </a:lnT>
                    <a:lnB w="12240">
                      <a:solidFill>
                        <a:srgbClr val="cadcf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0.9273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adcfc"/>
                      </a:solidFill>
                      <a:prstDash val="solid"/>
                    </a:lnL>
                    <a:lnR w="12240">
                      <a:solidFill>
                        <a:srgbClr val="cadcfc"/>
                      </a:solidFill>
                      <a:prstDash val="solid"/>
                    </a:lnR>
                    <a:lnT w="12240">
                      <a:solidFill>
                        <a:srgbClr val="cadcfc"/>
                      </a:solidFill>
                      <a:prstDash val="solid"/>
                    </a:lnT>
                    <a:lnB w="12240">
                      <a:solidFill>
                        <a:srgbClr val="cadcfc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Precision (Fraud)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adcfc"/>
                      </a:solidFill>
                      <a:prstDash val="solid"/>
                    </a:lnL>
                    <a:lnR w="12240">
                      <a:solidFill>
                        <a:srgbClr val="cadcfc"/>
                      </a:solidFill>
                      <a:prstDash val="solid"/>
                    </a:lnR>
                    <a:lnT w="12240">
                      <a:solidFill>
                        <a:srgbClr val="cadcfc"/>
                      </a:solidFill>
                      <a:prstDash val="solid"/>
                    </a:lnT>
                    <a:lnB w="12240">
                      <a:solidFill>
                        <a:srgbClr val="cadcf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0.3207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adcfc"/>
                      </a:solidFill>
                      <a:prstDash val="solid"/>
                    </a:lnL>
                    <a:lnR w="12240">
                      <a:solidFill>
                        <a:srgbClr val="cadcfc"/>
                      </a:solidFill>
                      <a:prstDash val="solid"/>
                    </a:lnR>
                    <a:lnT w="12240">
                      <a:solidFill>
                        <a:srgbClr val="cadcfc"/>
                      </a:solidFill>
                      <a:prstDash val="solid"/>
                    </a:lnT>
                    <a:lnB w="12240">
                      <a:solidFill>
                        <a:srgbClr val="cadcf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0.2585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adcfc"/>
                      </a:solidFill>
                      <a:prstDash val="solid"/>
                    </a:lnL>
                    <a:lnR w="12240">
                      <a:solidFill>
                        <a:srgbClr val="cadcfc"/>
                      </a:solidFill>
                      <a:prstDash val="solid"/>
                    </a:lnR>
                    <a:lnT w="12240">
                      <a:solidFill>
                        <a:srgbClr val="cadcfc"/>
                      </a:solidFill>
                      <a:prstDash val="solid"/>
                    </a:lnT>
                    <a:lnB w="12240">
                      <a:solidFill>
                        <a:srgbClr val="cadcfc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 0"/>
          <p:cNvSpPr/>
          <p:nvPr/>
        </p:nvSpPr>
        <p:spPr>
          <a:xfrm>
            <a:off x="457200" y="274320"/>
            <a:ext cx="822924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THRESHOLD SELECTION &amp; BUSINESS TRADEOFF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0" name="Table 0"/>
          <p:cNvGraphicFramePr/>
          <p:nvPr/>
        </p:nvGraphicFramePr>
        <p:xfrm>
          <a:off x="457200" y="1097280"/>
          <a:ext cx="8229240" cy="100656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6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Threshold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adcfc"/>
                      </a:solidFill>
                      <a:prstDash val="solid"/>
                    </a:lnL>
                    <a:lnR w="12240">
                      <a:solidFill>
                        <a:srgbClr val="cadcfc"/>
                      </a:solidFill>
                      <a:prstDash val="solid"/>
                    </a:lnR>
                    <a:lnT w="12240">
                      <a:solidFill>
                        <a:srgbClr val="cadcfc"/>
                      </a:solidFill>
                      <a:prstDash val="solid"/>
                    </a:lnT>
                    <a:lnB w="12240">
                      <a:solidFill>
                        <a:srgbClr val="cadcf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6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Recall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adcfc"/>
                      </a:solidFill>
                      <a:prstDash val="solid"/>
                    </a:lnL>
                    <a:lnR w="12240">
                      <a:solidFill>
                        <a:srgbClr val="cadcfc"/>
                      </a:solidFill>
                      <a:prstDash val="solid"/>
                    </a:lnR>
                    <a:lnT w="12240">
                      <a:solidFill>
                        <a:srgbClr val="cadcfc"/>
                      </a:solidFill>
                      <a:prstDash val="solid"/>
                    </a:lnT>
                    <a:lnB w="12240">
                      <a:solidFill>
                        <a:srgbClr val="cadcf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6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Precision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adcfc"/>
                      </a:solidFill>
                      <a:prstDash val="solid"/>
                    </a:lnL>
                    <a:lnR w="12240">
                      <a:solidFill>
                        <a:srgbClr val="cadcfc"/>
                      </a:solidFill>
                      <a:prstDash val="solid"/>
                    </a:lnR>
                    <a:lnT w="12240">
                      <a:solidFill>
                        <a:srgbClr val="cadcfc"/>
                      </a:solidFill>
                      <a:prstDash val="solid"/>
                    </a:lnT>
                    <a:lnB w="12240">
                      <a:solidFill>
                        <a:srgbClr val="cadcf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6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False Positives</a:t>
                      </a:r>
                      <a:endParaRPr lang="en-US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adcfc"/>
                      </a:solidFill>
                      <a:prstDash val="solid"/>
                    </a:lnL>
                    <a:lnR w="12240">
                      <a:solidFill>
                        <a:srgbClr val="cadcfc"/>
                      </a:solidFill>
                      <a:prstDash val="solid"/>
                    </a:lnR>
                    <a:lnT w="12240">
                      <a:solidFill>
                        <a:srgbClr val="cadcfc"/>
                      </a:solidFill>
                      <a:prstDash val="solid"/>
                    </a:lnT>
                    <a:lnB w="12240">
                      <a:solidFill>
                        <a:srgbClr val="cadcf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0.50 (Default)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adcfc"/>
                      </a:solidFill>
                      <a:prstDash val="solid"/>
                    </a:lnL>
                    <a:lnR w="12240">
                      <a:solidFill>
                        <a:srgbClr val="cadcfc"/>
                      </a:solidFill>
                      <a:prstDash val="solid"/>
                    </a:lnR>
                    <a:lnT w="12240">
                      <a:solidFill>
                        <a:srgbClr val="cadcfc"/>
                      </a:solidFill>
                      <a:prstDash val="solid"/>
                    </a:lnT>
                    <a:lnB w="12240">
                      <a:solidFill>
                        <a:srgbClr val="cadcf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0.9273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adcfc"/>
                      </a:solidFill>
                      <a:prstDash val="solid"/>
                    </a:lnL>
                    <a:lnR w="12240">
                      <a:solidFill>
                        <a:srgbClr val="cadcfc"/>
                      </a:solidFill>
                      <a:prstDash val="solid"/>
                    </a:lnR>
                    <a:lnT w="12240">
                      <a:solidFill>
                        <a:srgbClr val="cadcfc"/>
                      </a:solidFill>
                      <a:prstDash val="solid"/>
                    </a:lnT>
                    <a:lnB w="12240">
                      <a:solidFill>
                        <a:srgbClr val="cadcf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0.2585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adcfc"/>
                      </a:solidFill>
                      <a:prstDash val="solid"/>
                    </a:lnL>
                    <a:lnR w="12240">
                      <a:solidFill>
                        <a:srgbClr val="cadcfc"/>
                      </a:solidFill>
                      <a:prstDash val="solid"/>
                    </a:lnR>
                    <a:lnT w="12240">
                      <a:solidFill>
                        <a:srgbClr val="cadcfc"/>
                      </a:solidFill>
                      <a:prstDash val="solid"/>
                    </a:lnT>
                    <a:lnB w="12240">
                      <a:solidFill>
                        <a:srgbClr val="cadcf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5,706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adcfc"/>
                      </a:solidFill>
                      <a:prstDash val="solid"/>
                    </a:lnL>
                    <a:lnR w="12240">
                      <a:solidFill>
                        <a:srgbClr val="cadcfc"/>
                      </a:solidFill>
                      <a:prstDash val="solid"/>
                    </a:lnR>
                    <a:lnT w="12240">
                      <a:solidFill>
                        <a:srgbClr val="cadcfc"/>
                      </a:solidFill>
                      <a:prstDash val="solid"/>
                    </a:lnT>
                    <a:lnB w="12240">
                      <a:solidFill>
                        <a:srgbClr val="cadcfc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0.80 (Optimal)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adcfc"/>
                      </a:solidFill>
                      <a:prstDash val="solid"/>
                    </a:lnL>
                    <a:lnR w="12240">
                      <a:solidFill>
                        <a:srgbClr val="cadcfc"/>
                      </a:solidFill>
                      <a:prstDash val="solid"/>
                    </a:lnR>
                    <a:lnT w="12240">
                      <a:solidFill>
                        <a:srgbClr val="cadcfc"/>
                      </a:solidFill>
                      <a:prstDash val="solid"/>
                    </a:lnT>
                    <a:lnB w="12240">
                      <a:solidFill>
                        <a:srgbClr val="cadcf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0.7622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adcfc"/>
                      </a:solidFill>
                      <a:prstDash val="solid"/>
                    </a:lnL>
                    <a:lnR w="12240">
                      <a:solidFill>
                        <a:srgbClr val="cadcfc"/>
                      </a:solidFill>
                      <a:prstDash val="solid"/>
                    </a:lnR>
                    <a:lnT w="12240">
                      <a:solidFill>
                        <a:srgbClr val="cadcfc"/>
                      </a:solidFill>
                      <a:prstDash val="solid"/>
                    </a:lnT>
                    <a:lnB w="12240">
                      <a:solidFill>
                        <a:srgbClr val="cadcf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0.7922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adcfc"/>
                      </a:solidFill>
                      <a:prstDash val="solid"/>
                    </a:lnL>
                    <a:lnR w="12240">
                      <a:solidFill>
                        <a:srgbClr val="cadcfc"/>
                      </a:solidFill>
                      <a:prstDash val="solid"/>
                    </a:lnR>
                    <a:lnT w="12240">
                      <a:solidFill>
                        <a:srgbClr val="cadcfc"/>
                      </a:solidFill>
                      <a:prstDash val="solid"/>
                    </a:lnT>
                    <a:lnB w="12240">
                      <a:solidFill>
                        <a:srgbClr val="cadcf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429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cadcfc"/>
                      </a:solidFill>
                      <a:prstDash val="solid"/>
                    </a:lnL>
                    <a:lnR w="12240">
                      <a:solidFill>
                        <a:srgbClr val="cadcfc"/>
                      </a:solidFill>
                      <a:prstDash val="solid"/>
                    </a:lnR>
                    <a:lnT w="12240">
                      <a:solidFill>
                        <a:srgbClr val="cadcfc"/>
                      </a:solidFill>
                      <a:prstDash val="solid"/>
                    </a:lnT>
                    <a:lnB w="12240">
                      <a:solidFill>
                        <a:srgbClr val="cadcfc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1" name="Text 1"/>
          <p:cNvSpPr/>
          <p:nvPr/>
        </p:nvSpPr>
        <p:spPr>
          <a:xfrm>
            <a:off x="457200" y="2926080"/>
            <a:ext cx="822924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The Business Tradeoff: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333333"/>
              </a:buClr>
              <a:buFont typeface="Symbol" charset="2"/>
              <a:buChar char=""/>
              <a:tabLst>
                <a:tab algn="l" pos="0"/>
              </a:tabLst>
            </a:pPr>
            <a:r>
              <a:rPr lang="en-US" sz="16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A 0.5 threshold catches more fraud but flags 5,706 innocent customers.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333333"/>
              </a:buClr>
              <a:buFont typeface="Symbol" charset="2"/>
              <a:buChar char=""/>
              <a:tabLst>
                <a:tab algn="l" pos="0"/>
              </a:tabLst>
            </a:pPr>
            <a:r>
              <a:rPr lang="en-US" sz="16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The 0.8 threshold reduces customer friction by 92% (only 429 False Positives) while maintaining a high F1-Score of 0.7769.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 0"/>
          <p:cNvSpPr/>
          <p:nvPr/>
        </p:nvSpPr>
        <p:spPr>
          <a:xfrm>
            <a:off x="457200" y="274320"/>
            <a:ext cx="822924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EXECUTIVE SUMMARY &amp; FINDINGS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"/>
          <p:cNvSpPr/>
          <p:nvPr/>
        </p:nvSpPr>
        <p:spPr>
          <a:xfrm>
            <a:off x="457200" y="1097280"/>
            <a:ext cx="365724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2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0.9931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2"/>
          <p:cNvSpPr/>
          <p:nvPr/>
        </p:nvSpPr>
        <p:spPr>
          <a:xfrm>
            <a:off x="457200" y="2011680"/>
            <a:ext cx="365724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Final Model ROC-AUC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3"/>
          <p:cNvSpPr/>
          <p:nvPr/>
        </p:nvSpPr>
        <p:spPr>
          <a:xfrm>
            <a:off x="4572000" y="2286000"/>
            <a:ext cx="411444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1e2761"/>
                </a:solidFill>
                <a:effectLst/>
                <a:uFillTx/>
                <a:latin typeface="Calibri"/>
              </a:rPr>
              <a:t>Robust Pipeline: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333333"/>
              </a:buClr>
              <a:buFont typeface="Symbol" charset="2"/>
              <a:buChar char=""/>
              <a:tabLst>
                <a:tab algn="l" pos="0"/>
              </a:tabLst>
            </a:pPr>
            <a:r>
              <a:rPr lang="en-US" sz="16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Successfully handled 1.29M records with 0.58% imbalance.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333333"/>
              </a:buClr>
              <a:buFont typeface="Symbol" charset="2"/>
              <a:buChar char=""/>
              <a:tabLst>
                <a:tab algn="l" pos="0"/>
              </a:tabLst>
            </a:pPr>
            <a:r>
              <a:rPr lang="en-US" sz="16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Statistical selection reduced 20+ columns to 10 high-impact features.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333333"/>
              </a:buClr>
              <a:buFont typeface="Symbol" charset="2"/>
              <a:buChar char=""/>
              <a:tabLst>
                <a:tab algn="l" pos="0"/>
              </a:tabLst>
            </a:pPr>
            <a:r>
              <a:rPr lang="en-US" sz="16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Generalization: Model performance held steady on unseen test data.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333333"/>
              </a:buClr>
              <a:buFont typeface="Symbol" charset="2"/>
              <a:buChar char=""/>
              <a:tabLst>
                <a:tab algn="l" pos="0"/>
              </a:tabLst>
            </a:pPr>
            <a:r>
              <a:rPr lang="en-US" sz="16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Actionable Tuning: Threshold optimization allows for precision-focused deployment.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 0"/>
          <p:cNvSpPr/>
          <p:nvPr/>
        </p:nvSpPr>
        <p:spPr>
          <a:xfrm>
            <a:off x="457200" y="457200"/>
            <a:ext cx="822924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NEXT STEPS &amp; RECOMMENDATIONS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"/>
          <p:cNvSpPr/>
          <p:nvPr/>
        </p:nvSpPr>
        <p:spPr>
          <a:xfrm>
            <a:off x="686160" y="2971440"/>
            <a:ext cx="777204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1. Advance Model Architecture: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  <a:tabLst>
                <a:tab algn="l" pos="0"/>
              </a:tabLs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Iterate with XGBoost or LightGBM to improve training speed and capture non-linearities.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2. Strategic Threshold Selection: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  <a:tabLst>
                <a:tab algn="l" pos="0"/>
              </a:tabLs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Deploy at 0.80 threshold for low-friction or 0.50 for high-security environments.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3. Retrain on Full Dataset: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  <a:tabLst>
                <a:tab algn="l" pos="0"/>
              </a:tabLs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Execute final production training on combined train + test data for maximum pattern capture.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4. Real-time Feature Store: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  <a:tabLst>
                <a:tab algn="l" pos="0"/>
              </a:tabLs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Implement Haversine distance calculations in the serving layer for sub-100ms inference.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LibreOffice/25.8.4.2$Linux_X86_64 LibreOffice_project/580$Build-2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2026-02-27T01:32:51Z</dcterms:created>
  <dc:creator>PptxGenJS</dc:creator>
  <dc:description/>
  <dc:language>en-US</dc:language>
  <cp:lastModifiedBy/>
  <dcterms:modified xsi:type="dcterms:W3CDTF">2026-02-27T01:35:04Z</dcterms:modified>
  <cp:revision>2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